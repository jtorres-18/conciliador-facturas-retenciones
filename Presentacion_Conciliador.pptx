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264d7c9b-4225-86a4-3c8f-82adb3ec7f94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2A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C2A29"/>
                </a:solidFill>
                <a:latin typeface="+mn-lt"/>
              </a:rPr>
              <a:t>Inconsistencias por causa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Facturas</c:v>
                </c:pt>
              </c:strCache>
            </c:strRef>
          </c:tx>
          <c:spPr>
            <a:solidFill>
              <a:srgbClr val="C23B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A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Factura duplicada</c:v>
                  </c:pt>
                  <c:pt idx="1">
                    <c:v>Sin registro contable</c:v>
                  </c:pt>
                  <c:pt idx="2">
                    <c:v>Total mal calculado</c:v>
                  </c:pt>
                  <c:pt idx="3">
                    <c:v>Contabilización pendiente</c:v>
                  </c:pt>
                  <c:pt idx="4">
                    <c:v>Campo vacío</c:v>
                  </c:pt>
                  <c:pt idx="5">
                    <c:v>IVA mal calculado</c:v>
                  </c:pt>
                  <c:pt idx="6">
                    <c:v>Valor contable distinto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A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A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el prototipo del conciliador. La pregunta de fondo es simple: la factura que nos envía el proveedor y lo que registramos en contabilidad, ¿cuentan la misma historia? Hoy eso se verifica a mano; el prototipo lo automatiza.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actual funciona, pero depende de una persona cruzando dos archivos. Eso consume tiempo, no deja trazabilidad y los errores aparecen tarde. Lo importante es el riesgo: pagar dos veces una factura, declarar mal un impuesto o cerrar el mes con gastos sin registrar.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tiene tres pasos. Se cargan los dos archivos, el sistema aplica las reglas y entrega un resumen con el detalle de cada factura. Las reglas son las del enunciado: IVA igual a base por tarifa, total igual a base más IVA menos retención, duplicados, facturas sin registro contable, estado pendiente y campos vacíos.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los archivos de ejemplo se procesan 50 filas de factura. 32 salen correctas y 18 con alguna inconsistencia, un 36%. Las causas más frecuentes son facturas duplicadas y facturas sin registro contable. Una factura puede tener más de una causa, por eso las barras suman más de 18. Los datos son ficticios.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beneficios: menos trabajo manual, trazabilidad por factura y una base que se puede ampliar. Como siguientes pasos propongo validar las reglas y los supuestos con ustedes, probar con datos reales de un mes completo y agregar exportación y seguimiento de cada caso. El prototipo solo reporta; no corrige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5720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4480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Conciliador de facturas y retenciones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Conciliador de facturas y retenciones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Prototipo para la Gerencia de Evolución Contable y Tributaria</a:t>
            </a:r>
            <a:endParaRPr lang="en-US" sz="1800" dirty="0"/>
          </a:p>
        </p:txBody>
      </p:sp>
      <p:sp>
        <p:nvSpPr>
          <p:cNvPr id="4" name="Etiqueta"/>
          <p:cNvSpPr txBox="1"/>
          <p:nvPr/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PRUEBA TÉCNICA · ANALISTA III</a:t>
            </a:r>
            <a:endParaRPr lang="en-US" sz="1200" dirty="0"/>
          </a:p>
        </p:txBody>
      </p:sp>
      <p:sp>
        <p:nvSpPr>
          <p:cNvPr id="5" name="Círculo"/>
          <p:cNvSpPr/>
          <p:nvPr/>
        </p:nvSpPr>
        <p:spPr>
          <a:xfrm>
            <a:off x="5760720" y="109728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o balanza" descr="Balanz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91640"/>
            <a:ext cx="1188720" cy="1188720"/>
          </a:xfrm>
          <a:prstGeom prst="rect">
            <a:avLst/>
          </a:prstGeom>
        </p:spPr>
      </p:pic>
      <p:sp>
        <p:nvSpPr>
          <p:cNvPr id="7" name="Pregunta"/>
          <p:cNvSpPr txBox="1"/>
          <p:nvPr/>
        </p:nvSpPr>
        <p:spPr>
          <a:xfrm>
            <a:off x="539496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¿Las dos versiones coinciden?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Hoy el cruce es manual</a:t>
            </a:r>
            <a:endParaRPr lang="en-US" sz="3600" dirty="0"/>
          </a:p>
        </p:txBody>
      </p:sp>
      <p:sp>
        <p:nvSpPr>
          <p:cNvPr id="3" name="Tarjeta 1"/>
          <p:cNvSpPr/>
          <p:nvPr/>
        </p:nvSpPr>
        <p:spPr>
          <a:xfrm>
            <a:off x="548640" y="1325880"/>
            <a:ext cx="249631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1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1" descr="L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10896" cy="310896"/>
          </a:xfrm>
          <a:prstGeom prst="rect">
            <a:avLst/>
          </a:prstGeom>
        </p:spPr>
      </p:pic>
      <p:sp>
        <p:nvSpPr>
          <p:cNvPr id="6" name="Título tarjeta 1"/>
          <p:cNvSpPr txBox="1"/>
          <p:nvPr/>
        </p:nvSpPr>
        <p:spPr>
          <a:xfrm>
            <a:off x="77724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Lento</a:t>
            </a:r>
            <a:endParaRPr lang="en-US" sz="2000" dirty="0"/>
          </a:p>
        </p:txBody>
      </p:sp>
      <p:sp>
        <p:nvSpPr>
          <p:cNvPr id="7" name="Texto tarjeta 1"/>
          <p:cNvSpPr txBox="1"/>
          <p:nvPr/>
        </p:nvSpPr>
        <p:spPr>
          <a:xfrm>
            <a:off x="777240" y="2743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analista cruza dos archivos a mano cada mes.</a:t>
            </a:r>
            <a:endParaRPr lang="en-US" sz="1400" dirty="0"/>
          </a:p>
        </p:txBody>
      </p:sp>
      <p:sp>
        <p:nvSpPr>
          <p:cNvPr id="8" name="Tarjeta 2"/>
          <p:cNvSpPr/>
          <p:nvPr/>
        </p:nvSpPr>
        <p:spPr>
          <a:xfrm>
            <a:off x="3323844" y="1325880"/>
            <a:ext cx="249631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írculo 2"/>
          <p:cNvSpPr/>
          <p:nvPr/>
        </p:nvSpPr>
        <p:spPr>
          <a:xfrm>
            <a:off x="3552444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o 2" descr="Sin trazabil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719072"/>
            <a:ext cx="310896" cy="310896"/>
          </a:xfrm>
          <a:prstGeom prst="rect">
            <a:avLst/>
          </a:prstGeom>
        </p:spPr>
      </p:pic>
      <p:sp>
        <p:nvSpPr>
          <p:cNvPr id="11" name="Título tarjeta 2"/>
          <p:cNvSpPr txBox="1"/>
          <p:nvPr/>
        </p:nvSpPr>
        <p:spPr>
          <a:xfrm>
            <a:off x="3552444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Sin trazabilidad</a:t>
            </a:r>
            <a:endParaRPr lang="en-US" sz="2000" dirty="0"/>
          </a:p>
        </p:txBody>
      </p:sp>
      <p:sp>
        <p:nvSpPr>
          <p:cNvPr id="12" name="Texto tarjeta 2"/>
          <p:cNvSpPr txBox="1"/>
          <p:nvPr/>
        </p:nvSpPr>
        <p:spPr>
          <a:xfrm>
            <a:off x="3552444" y="2743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queda rastro de cómo se llegó a cada hallazgo.</a:t>
            </a:r>
            <a:endParaRPr lang="en-US" sz="1400" dirty="0"/>
          </a:p>
        </p:txBody>
      </p:sp>
      <p:sp>
        <p:nvSpPr>
          <p:cNvPr id="13" name="Tarjeta 3"/>
          <p:cNvSpPr/>
          <p:nvPr/>
        </p:nvSpPr>
        <p:spPr>
          <a:xfrm>
            <a:off x="6099048" y="1325880"/>
            <a:ext cx="249631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írculo 3"/>
          <p:cNvSpPr/>
          <p:nvPr/>
        </p:nvSpPr>
        <p:spPr>
          <a:xfrm>
            <a:off x="632764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o 3" descr="Reproces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19072"/>
            <a:ext cx="310896" cy="310896"/>
          </a:xfrm>
          <a:prstGeom prst="rect">
            <a:avLst/>
          </a:prstGeom>
        </p:spPr>
      </p:pic>
      <p:sp>
        <p:nvSpPr>
          <p:cNvPr id="16" name="Título tarjeta 3"/>
          <p:cNvSpPr txBox="1"/>
          <p:nvPr/>
        </p:nvSpPr>
        <p:spPr>
          <a:xfrm>
            <a:off x="6327648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Reprocesos</a:t>
            </a:r>
            <a:endParaRPr lang="en-US" sz="2000" dirty="0"/>
          </a:p>
        </p:txBody>
      </p:sp>
      <p:sp>
        <p:nvSpPr>
          <p:cNvPr id="17" name="Texto tarjeta 3"/>
          <p:cNvSpPr txBox="1"/>
          <p:nvPr/>
        </p:nvSpPr>
        <p:spPr>
          <a:xfrm>
            <a:off x="6327648" y="274320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Errores de IVA, totales o duplicados se descubren tarde.</a:t>
            </a:r>
            <a:endParaRPr lang="en-US" sz="1400" dirty="0"/>
          </a:p>
        </p:txBody>
      </p:sp>
      <p:sp>
        <p:nvSpPr>
          <p:cNvPr id="18" name="Caja de riesgo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o de riesgo"/>
          <p:cNvSpPr txBox="1"/>
          <p:nvPr/>
        </p:nvSpPr>
        <p:spPr>
          <a:xfrm>
            <a:off x="77724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Riesgo: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pagar dos veces, declarar mal un impuesto o cerrar el mes con gastos sin registrar.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Cómo funciona</a:t>
            </a:r>
            <a:endParaRPr lang="en-US" sz="3600" dirty="0"/>
          </a:p>
        </p:txBody>
      </p:sp>
      <p:sp>
        <p:nvSpPr>
          <p:cNvPr id="3" name="Paso 1"/>
          <p:cNvSpPr/>
          <p:nvPr/>
        </p:nvSpPr>
        <p:spPr>
          <a:xfrm>
            <a:off x="548640" y="1280160"/>
            <a:ext cx="22860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paso 1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paso 1" descr="1. Car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609344"/>
            <a:ext cx="301752" cy="301752"/>
          </a:xfrm>
          <a:prstGeom prst="rect">
            <a:avLst/>
          </a:prstGeom>
        </p:spPr>
      </p:pic>
      <p:sp>
        <p:nvSpPr>
          <p:cNvPr id="6" name="Título paso 1"/>
          <p:cNvSpPr txBox="1"/>
          <p:nvPr/>
        </p:nvSpPr>
        <p:spPr>
          <a:xfrm>
            <a:off x="7772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Cargar</a:t>
            </a:r>
            <a:endParaRPr lang="en-US" sz="2000" dirty="0"/>
          </a:p>
        </p:txBody>
      </p:sp>
      <p:sp>
        <p:nvSpPr>
          <p:cNvPr id="7" name="Texto paso 1"/>
          <p:cNvSpPr txBox="1"/>
          <p:nvPr/>
        </p:nvSpPr>
        <p:spPr>
          <a:xfrm>
            <a:off x="77724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Dos archivos: facturas y registros contables.</a:t>
            </a:r>
            <a:endParaRPr lang="en-US" sz="1400" dirty="0"/>
          </a:p>
        </p:txBody>
      </p:sp>
      <p:pic>
        <p:nvPicPr>
          <p:cNvPr id="8" name="Flecha 1" descr="Siguien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011680"/>
            <a:ext cx="274320" cy="274320"/>
          </a:xfrm>
          <a:prstGeom prst="rect">
            <a:avLst/>
          </a:prstGeom>
        </p:spPr>
      </p:pic>
      <p:sp>
        <p:nvSpPr>
          <p:cNvPr id="9" name="Paso 2"/>
          <p:cNvSpPr/>
          <p:nvPr/>
        </p:nvSpPr>
        <p:spPr>
          <a:xfrm>
            <a:off x="3429000" y="1280160"/>
            <a:ext cx="22860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írculo paso 2"/>
          <p:cNvSpPr/>
          <p:nvPr/>
        </p:nvSpPr>
        <p:spPr>
          <a:xfrm>
            <a:off x="365760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Ícono paso 2" descr="2. Vali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1609344"/>
            <a:ext cx="301752" cy="301752"/>
          </a:xfrm>
          <a:prstGeom prst="rect">
            <a:avLst/>
          </a:prstGeom>
        </p:spPr>
      </p:pic>
      <p:sp>
        <p:nvSpPr>
          <p:cNvPr id="12" name="Título paso 2"/>
          <p:cNvSpPr txBox="1"/>
          <p:nvPr/>
        </p:nvSpPr>
        <p:spPr>
          <a:xfrm>
            <a:off x="36576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Validar</a:t>
            </a:r>
            <a:endParaRPr lang="en-US" sz="2000" dirty="0"/>
          </a:p>
        </p:txBody>
      </p:sp>
      <p:sp>
        <p:nvSpPr>
          <p:cNvPr id="13" name="Texto paso 2"/>
          <p:cNvSpPr txBox="1"/>
          <p:nvPr/>
        </p:nvSpPr>
        <p:spPr>
          <a:xfrm>
            <a:off x="365760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Reglas tributarias y cruce automático.</a:t>
            </a:r>
            <a:endParaRPr lang="en-US" sz="1400" dirty="0"/>
          </a:p>
        </p:txBody>
      </p:sp>
      <p:pic>
        <p:nvPicPr>
          <p:cNvPr id="14" name="Flecha 2" descr="Siguien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011680"/>
            <a:ext cx="274320" cy="274320"/>
          </a:xfrm>
          <a:prstGeom prst="rect">
            <a:avLst/>
          </a:prstGeom>
        </p:spPr>
      </p:pic>
      <p:sp>
        <p:nvSpPr>
          <p:cNvPr id="15" name="Paso 3"/>
          <p:cNvSpPr/>
          <p:nvPr/>
        </p:nvSpPr>
        <p:spPr>
          <a:xfrm>
            <a:off x="6309360" y="1280160"/>
            <a:ext cx="228600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írculo paso 3"/>
          <p:cNvSpPr/>
          <p:nvPr/>
        </p:nvSpPr>
        <p:spPr>
          <a:xfrm>
            <a:off x="653796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Ícono paso 3" descr="3. Revis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1609344"/>
            <a:ext cx="301752" cy="301752"/>
          </a:xfrm>
          <a:prstGeom prst="rect">
            <a:avLst/>
          </a:prstGeom>
        </p:spPr>
      </p:pic>
      <p:sp>
        <p:nvSpPr>
          <p:cNvPr id="18" name="Título paso 3"/>
          <p:cNvSpPr txBox="1"/>
          <p:nvPr/>
        </p:nvSpPr>
        <p:spPr>
          <a:xfrm>
            <a:off x="6537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Revisar</a:t>
            </a:r>
            <a:endParaRPr lang="en-US" sz="2000" dirty="0"/>
          </a:p>
        </p:txBody>
      </p:sp>
      <p:sp>
        <p:nvSpPr>
          <p:cNvPr id="19" name="Texto paso 3"/>
          <p:cNvSpPr txBox="1"/>
          <p:nvPr/>
        </p:nvSpPr>
        <p:spPr>
          <a:xfrm>
            <a:off x="653796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Resumen y detalle con la causa de cada caso.</a:t>
            </a:r>
            <a:endParaRPr lang="en-US" sz="1400" dirty="0"/>
          </a:p>
        </p:txBody>
      </p:sp>
      <p:sp>
        <p:nvSpPr>
          <p:cNvPr id="20" name="Etiqueta reglas"/>
          <p:cNvSpPr txBox="1"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Reglas que aplica</a:t>
            </a:r>
            <a:endParaRPr lang="en-US" sz="1600" dirty="0"/>
          </a:p>
        </p:txBody>
      </p:sp>
      <p:sp>
        <p:nvSpPr>
          <p:cNvPr id="21" name="Regla 1"/>
          <p:cNvSpPr txBox="1"/>
          <p:nvPr/>
        </p:nvSpPr>
        <p:spPr>
          <a:xfrm>
            <a:off x="548640" y="3703320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IVA = base × tarifa</a:t>
            </a:r>
            <a:endParaRPr lang="en-US" sz="1300" dirty="0"/>
          </a:p>
        </p:txBody>
      </p:sp>
      <p:sp>
        <p:nvSpPr>
          <p:cNvPr id="22" name="Regla 2"/>
          <p:cNvSpPr txBox="1"/>
          <p:nvPr/>
        </p:nvSpPr>
        <p:spPr>
          <a:xfrm>
            <a:off x="2926080" y="3703320"/>
            <a:ext cx="310896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Total = base + IVA informado − retención</a:t>
            </a:r>
            <a:endParaRPr lang="en-US" sz="1300" dirty="0"/>
          </a:p>
        </p:txBody>
      </p:sp>
      <p:sp>
        <p:nvSpPr>
          <p:cNvPr id="23" name="Regla 3"/>
          <p:cNvSpPr txBox="1"/>
          <p:nvPr/>
        </p:nvSpPr>
        <p:spPr>
          <a:xfrm>
            <a:off x="6217920" y="3703320"/>
            <a:ext cx="20116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Facturas duplicadas</a:t>
            </a:r>
            <a:endParaRPr lang="en-US" sz="1300" dirty="0"/>
          </a:p>
        </p:txBody>
      </p:sp>
      <p:sp>
        <p:nvSpPr>
          <p:cNvPr id="24" name="Regla 4"/>
          <p:cNvSpPr txBox="1"/>
          <p:nvPr/>
        </p:nvSpPr>
        <p:spPr>
          <a:xfrm>
            <a:off x="548640" y="4160520"/>
            <a:ext cx="219456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Sin registro contable</a:t>
            </a:r>
            <a:endParaRPr lang="en-US" sz="1300" dirty="0"/>
          </a:p>
        </p:txBody>
      </p:sp>
      <p:sp>
        <p:nvSpPr>
          <p:cNvPr id="25" name="Regla 5"/>
          <p:cNvSpPr txBox="1"/>
          <p:nvPr/>
        </p:nvSpPr>
        <p:spPr>
          <a:xfrm>
            <a:off x="2926080" y="4160520"/>
            <a:ext cx="256032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Contabilización pendiente</a:t>
            </a:r>
            <a:endParaRPr lang="en-US" sz="1300" dirty="0"/>
          </a:p>
        </p:txBody>
      </p:sp>
      <p:sp>
        <p:nvSpPr>
          <p:cNvPr id="26" name="Regla 6"/>
          <p:cNvSpPr txBox="1"/>
          <p:nvPr/>
        </p:nvSpPr>
        <p:spPr>
          <a:xfrm>
            <a:off x="5669280" y="4160520"/>
            <a:ext cx="164592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Campos vacíos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Resultados de la prueba</a:t>
            </a:r>
            <a:endParaRPr lang="en-US" sz="3600" dirty="0"/>
          </a:p>
        </p:txBody>
      </p:sp>
      <p:sp>
        <p:nvSpPr>
          <p:cNvPr id="3" name="Cifra 1"/>
          <p:cNvSpPr txBox="1"/>
          <p:nvPr/>
        </p:nvSpPr>
        <p:spPr>
          <a:xfrm>
            <a:off x="548640" y="128016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50</a:t>
            </a:r>
            <a:endParaRPr lang="en-US" sz="5400" dirty="0"/>
          </a:p>
        </p:txBody>
      </p:sp>
      <p:sp>
        <p:nvSpPr>
          <p:cNvPr id="4" name="Etiqueta cifra 1"/>
          <p:cNvSpPr txBox="1"/>
          <p:nvPr/>
        </p:nvSpPr>
        <p:spPr>
          <a:xfrm>
            <a:off x="1828800" y="12801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registros procesados, 48 facturas distintas</a:t>
            </a:r>
            <a:endParaRPr lang="en-US" sz="1600" dirty="0"/>
          </a:p>
        </p:txBody>
      </p:sp>
      <p:sp>
        <p:nvSpPr>
          <p:cNvPr id="5" name="Cifra 2"/>
          <p:cNvSpPr txBox="1"/>
          <p:nvPr/>
        </p:nvSpPr>
        <p:spPr>
          <a:xfrm>
            <a:off x="548640" y="2331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32</a:t>
            </a:r>
            <a:endParaRPr lang="en-US" sz="5400" dirty="0"/>
          </a:p>
        </p:txBody>
      </p:sp>
      <p:sp>
        <p:nvSpPr>
          <p:cNvPr id="6" name="Etiqueta cifra 2"/>
          <p:cNvSpPr txBox="1"/>
          <p:nvPr/>
        </p:nvSpPr>
        <p:spPr>
          <a:xfrm>
            <a:off x="1828800" y="2331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correctas</a:t>
            </a:r>
            <a:endParaRPr lang="en-US" sz="1600" dirty="0"/>
          </a:p>
        </p:txBody>
      </p:sp>
      <p:sp>
        <p:nvSpPr>
          <p:cNvPr id="7" name="Cifra 3"/>
          <p:cNvSpPr txBox="1"/>
          <p:nvPr/>
        </p:nvSpPr>
        <p:spPr>
          <a:xfrm>
            <a:off x="548640" y="3383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18</a:t>
            </a:r>
            <a:endParaRPr lang="en-US" sz="5400" dirty="0"/>
          </a:p>
        </p:txBody>
      </p:sp>
      <p:sp>
        <p:nvSpPr>
          <p:cNvPr id="8" name="Etiqueta cifra 3"/>
          <p:cNvSpPr txBox="1"/>
          <p:nvPr/>
        </p:nvSpPr>
        <p:spPr>
          <a:xfrm>
            <a:off x="1828800" y="3383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 inconsistencia (36%)</a:t>
            </a:r>
            <a:endParaRPr lang="en-US" sz="1600" dirty="0"/>
          </a:p>
        </p:txBody>
      </p:sp>
      <p:graphicFrame>
        <p:nvGraphicFramePr>
          <p:cNvPr id="9" name="Gráfico de causas" descr=""/>
          <p:cNvGraphicFramePr/>
          <p:nvPr/>
        </p:nvGraphicFramePr>
        <p:xfrm>
          <a:off x="3840480" y="118872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Nota"/>
          <p:cNvSpPr txBox="1"/>
          <p:nvPr/>
        </p:nvSpPr>
        <p:spPr>
          <a:xfrm>
            <a:off x="384048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«Correcta» significa que pasó las validaciones del prototipo. Una misma factura puede tener varias causas. Datos ficticios de ejemplo.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Beneficios y próximos pasos</a:t>
            </a:r>
            <a:endParaRPr lang="en-US" sz="3600" dirty="0"/>
          </a:p>
        </p:txBody>
      </p:sp>
      <p:sp>
        <p:nvSpPr>
          <p:cNvPr id="3" name="Círculo beneficio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Ícono beneficio 1" descr="Benefic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28600" cy="228600"/>
          </a:xfrm>
          <a:prstGeom prst="rect">
            <a:avLst/>
          </a:prstGeom>
        </p:spPr>
      </p:pic>
      <p:sp>
        <p:nvSpPr>
          <p:cNvPr id="5" name="Beneficio 1"/>
          <p:cNvSpPr txBox="1"/>
          <p:nvPr/>
        </p:nvSpPr>
        <p:spPr>
          <a:xfrm>
            <a:off x="128016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Menos trabajo manual</a:t>
            </a:r>
            <a:endParaRPr lang="en-US" sz="1800" dirty="0"/>
          </a:p>
        </p:txBody>
      </p:sp>
      <p:sp>
        <p:nvSpPr>
          <p:cNvPr id="6" name="Detalle beneficio 1"/>
          <p:cNvSpPr txBox="1"/>
          <p:nvPr/>
        </p:nvSpPr>
        <p:spPr>
          <a:xfrm>
            <a:off x="1280160" y="16733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espera reducir el tiempo del cruce de los dos archivos.</a:t>
            </a:r>
            <a:endParaRPr lang="en-US" sz="1400" dirty="0"/>
          </a:p>
        </p:txBody>
      </p:sp>
      <p:sp>
        <p:nvSpPr>
          <p:cNvPr id="7" name="Círculo beneficio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Ícono beneficio 2" descr="Benefic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87752"/>
            <a:ext cx="228600" cy="228600"/>
          </a:xfrm>
          <a:prstGeom prst="rect">
            <a:avLst/>
          </a:prstGeom>
        </p:spPr>
      </p:pic>
      <p:sp>
        <p:nvSpPr>
          <p:cNvPr id="9" name="Beneficio 2"/>
          <p:cNvSpPr txBox="1"/>
          <p:nvPr/>
        </p:nvSpPr>
        <p:spPr>
          <a:xfrm>
            <a:off x="1280160" y="2404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Trazabilidad</a:t>
            </a:r>
            <a:endParaRPr lang="en-US" sz="1800" dirty="0"/>
          </a:p>
        </p:txBody>
      </p:sp>
      <p:sp>
        <p:nvSpPr>
          <p:cNvPr id="10" name="Detalle beneficio 2"/>
          <p:cNvSpPr txBox="1"/>
          <p:nvPr/>
        </p:nvSpPr>
        <p:spPr>
          <a:xfrm>
            <a:off x="1280160" y="27523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factura indica qué regla falló y por qué.</a:t>
            </a:r>
            <a:endParaRPr lang="en-US" sz="1400" dirty="0"/>
          </a:p>
        </p:txBody>
      </p:sp>
      <p:sp>
        <p:nvSpPr>
          <p:cNvPr id="11" name="Círculo beneficio 3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Ícono beneficio 3" descr="Benefic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66744"/>
            <a:ext cx="228600" cy="228600"/>
          </a:xfrm>
          <a:prstGeom prst="rect">
            <a:avLst/>
          </a:prstGeom>
        </p:spPr>
      </p:pic>
      <p:sp>
        <p:nvSpPr>
          <p:cNvPr id="13" name="Beneficio 3"/>
          <p:cNvSpPr txBox="1"/>
          <p:nvPr/>
        </p:nvSpPr>
        <p:spPr>
          <a:xfrm>
            <a:off x="1280160" y="3483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Base para crecer</a:t>
            </a:r>
            <a:endParaRPr lang="en-US" sz="1800" dirty="0"/>
          </a:p>
        </p:txBody>
      </p:sp>
      <p:sp>
        <p:nvSpPr>
          <p:cNvPr id="14" name="Detalle beneficio 3"/>
          <p:cNvSpPr txBox="1"/>
          <p:nvPr/>
        </p:nvSpPr>
        <p:spPr>
          <a:xfrm>
            <a:off x="1280160" y="38313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reglas están separadas y se pueden ampliar.</a:t>
            </a:r>
            <a:endParaRPr lang="en-US" sz="1400" dirty="0"/>
          </a:p>
        </p:txBody>
      </p:sp>
      <p:sp>
        <p:nvSpPr>
          <p:cNvPr id="15" name="Panel próximos pasos"/>
          <p:cNvSpPr/>
          <p:nvPr/>
        </p:nvSpPr>
        <p:spPr>
          <a:xfrm>
            <a:off x="5120640" y="128016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ítulo próximos pasos"/>
          <p:cNvSpPr txBox="1"/>
          <p:nvPr/>
        </p:nvSpPr>
        <p:spPr>
          <a:xfrm>
            <a:off x="53949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Próximos pasos</a:t>
            </a:r>
            <a:endParaRPr lang="en-US" sz="2000" dirty="0"/>
          </a:p>
        </p:txBody>
      </p:sp>
      <p:sp>
        <p:nvSpPr>
          <p:cNvPr id="17" name="Lista próximos pasos"/>
          <p:cNvSpPr txBox="1"/>
          <p:nvPr/>
        </p:nvSpPr>
        <p:spPr>
          <a:xfrm>
            <a:off x="5394960" y="201168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Validar reglas y supuestos con el equipo funcional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Probar con datos reales de un mes completo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Agregar exportación y seguimiento de cada caso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iliador">
  <a:themeElements>
    <a:clrScheme name="Conciliador">
      <a:dk1>
        <a:srgbClr val="2C2A29"/>
      </a:dk1>
      <a:lt1>
        <a:srgbClr val="FFFFFF"/>
      </a:lt1>
      <a:dk2>
        <a:srgbClr val="2C2A29"/>
      </a:dk2>
      <a:lt2>
        <a:srgbClr val="F2F2F2"/>
      </a:lt2>
      <a:accent1>
        <a:srgbClr val="FDDA24"/>
      </a:accent1>
      <a:accent2>
        <a:srgbClr val="00C1D4"/>
      </a:accent2>
      <a:accent3>
        <a:srgbClr val="178A4D"/>
      </a:accent3>
      <a:accent4>
        <a:srgbClr val="C23B4E"/>
      </a:accent4>
      <a:accent5>
        <a:srgbClr val="6B6B6B"/>
      </a:accent5>
      <a:accent6>
        <a:srgbClr val="A3A3A3"/>
      </a:accent6>
      <a:hlink>
        <a:srgbClr val="00829B"/>
      </a:hlink>
      <a:folHlink>
        <a:srgbClr val="6B6B6B"/>
      </a:folHlink>
    </a:clrScheme>
    <a:fontScheme name="Conciliad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Conciliador de facturas y retenciones</dc:title>
  <dc:subject>PptxGenJS Presentation</dc:subject>
  <dc:creator>Prueba técnica - Analista III</dc:creator>
  <cp:lastModifiedBy>Prueba técnica - Analista III</cp:lastModifiedBy>
  <cp:revision>1</cp:revision>
  <dcterms:created xsi:type="dcterms:W3CDTF">2026-10-15T14:38:22Z</dcterms:created>
  <dcterms:modified xsi:type="dcterms:W3CDTF">2026-10-15T14:38:22Z</dcterms:modified>
</cp:coreProperties>
</file>